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pregunta: ¿cuánto te cuesta hoy conseguir un cliente nuevo calificado? Presentar MaNu PRO como una fuente de clientes que llegan ya educados sobre su situación de retiro.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dolor del asesor: adquisición cara y de baja calidad. Anclar el benchmark: USD 20-40 el lead frío. Nuestro lead llega con contexto — eso viene en las próximas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 acá si hay tiempo: abrir magic-number.app y calcular un caso en 3 minutos. Alternativa: ?demo=1 muestra la experiencia completa desbloqueada.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informe real (llevar impreso o en tablet). Punto clave: el contenido educa y crea urgencia — el usuario ya hizo el trabajo emocional antes de hablar con Javier.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embudo se auto-califica: quien llega al paso 4 vio su brecha y decidió pedir ayuda. Nadie lo interrumpió — la persona pidió que la contacten.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slide. Mostrar el email real si Resend ya está activo (mandarse un lead de prueba en vivo desde el celular es un gran momento de la reunión).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elegido: comisión por cliente convertido (referido). No vendemos leads. El número exacto de la comisión queda abierto para acordar con Javier en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100% honesto: hoy 0 usuarios, esto es matemática de embudo con benchmarks públicos. El piloto de 3 meses valida los ratios reales. La pauta la pagamos nosotros — para Javier el volumen es upside sin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Javier va a escrutar la metodología — esa es exactamente la razón de la sección "Cómo calculamos". Invitarlo a revisarla y dar feedback del motor: su expertise mejora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Fede es el creador: idea, logica financiera y primer MVP — ademas de capitalizar la inversion. Martin llevo el producto a produccion. B2B validado: los asesores necesitan leads, no software. Roadmap conservador — primero validar calidad con Javier.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pedir el OK para el piloto. La configuración es inmediata — puede recibir su primer lead de prueba antes de que termine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7452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</a:t>
            </a:r>
            <a:endParaRPr lang="en-US" sz="1680" dirty="0"/>
          </a:p>
        </p:txBody>
      </p:sp>
      <p:sp>
        <p:nvSpPr>
          <p:cNvPr id="4" name="Text 2"/>
          <p:cNvSpPr/>
          <p:nvPr/>
        </p:nvSpPr>
        <p:spPr>
          <a:xfrm>
            <a:off x="1325880" y="18470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calificados de </a:t>
            </a:r>
            <a:pPr indent="0" marL="0">
              <a:buNone/>
            </a:pPr>
            <a:r>
              <a:rPr lang="en-US" sz="4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de retiro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colaboración — Javier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Federico Amui · Martín Boccacci        magic-number.app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Conseguir clientes nuevos es caro — y llegan fríos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/>
        </p:spPr>
      </p:sp>
      <p:pic>
        <p:nvPicPr>
          <p:cNvPr id="4" name="Image 0" descr="/tmp/deck/icon-dollar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" y="1704807"/>
            <a:ext cx="266273" cy="2662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5453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 cara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34440" y="189280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lead de finanzas en LATAM cuesta USD 20–40 en pauta digital, y el costo sube todos los años.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/>
        </p:spPr>
      </p:sp>
      <p:pic>
        <p:nvPicPr>
          <p:cNvPr id="8" name="Image 1" descr="/tmp/deck/icon-snow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" y="303068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8712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fríos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234440" y="321868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bases compradas no tienen contexto ni urgencia: la persona no sabe por qué la llaman.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/>
        </p:spPr>
      </p:sp>
      <p:pic>
        <p:nvPicPr>
          <p:cNvPr id="12" name="Image 2" descr="/tmp/deck/icon-clock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4356567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1970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calificación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234440" y="454456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cada cliente real, el asesor invierte horas en llamadas que no van a ningún lado.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406640" y="1737360"/>
            <a:ext cx="4114800" cy="3291840"/>
          </a:xfrm>
          <a:prstGeom prst="roundRect">
            <a:avLst>
              <a:gd name="adj" fmla="val 3889"/>
            </a:avLst>
          </a:prstGeom>
          <a:solidFill>
            <a:srgbClr val="F1F5F9"/>
          </a:solidFill>
          <a:ln/>
        </p:spPr>
      </p:sp>
      <p:sp>
        <p:nvSpPr>
          <p:cNvPr id="16" name="Text 11"/>
          <p:cNvSpPr/>
          <p:nvPr/>
        </p:nvSpPr>
        <p:spPr>
          <a:xfrm>
            <a:off x="7406640" y="2286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20–40</a:t>
            </a:r>
            <a:endParaRPr lang="en-US" sz="5200" dirty="0"/>
          </a:p>
        </p:txBody>
      </p:sp>
      <p:sp>
        <p:nvSpPr>
          <p:cNvPr id="17" name="Text 12"/>
          <p:cNvSpPr/>
          <p:nvPr/>
        </p:nvSpPr>
        <p:spPr>
          <a:xfrm>
            <a:off x="7772400" y="3291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lead frío de finanzas en LATAM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0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garantía de que conteste el teléfono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Benchmarks: Fuelads — CPL Meta Ads LatAm Q2 2026 · get-ryze.ai — Meta Ads 2026 (finanzas)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PRO: tu Magic Number en 3 minutos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FF6FF"/>
          </a:solidFill>
          <a:ln/>
        </p:spPr>
      </p:sp>
      <p:pic>
        <p:nvPicPr>
          <p:cNvPr id="4" name="Image 0" descr="/tmp/deck/icon-check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154" y="1734434"/>
            <a:ext cx="225308" cy="2253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61848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 de retiro gratis, sin registro y sin tarjeta — cero fricción de entrada.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578608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FF6FF"/>
          </a:solidFill>
          <a:ln/>
        </p:spPr>
      </p:sp>
      <p:pic>
        <p:nvPicPr>
          <p:cNvPr id="7" name="Image 1" descr="/tmp/deck/icon-bullsey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4" y="2667122"/>
            <a:ext cx="225308" cy="2253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55117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el Magic Number: el capital exacto para retirarse, en dólares constantes.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3511296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FF6FF"/>
          </a:solidFill>
          <a:ln/>
        </p:spPr>
      </p:sp>
      <p:pic>
        <p:nvPicPr>
          <p:cNvPr id="10" name="Image 2" descr="/tmp/deck/icon-chart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4" y="3599810"/>
            <a:ext cx="225308" cy="2253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48386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 brecha, el costo de esperar y un simulador interactivo de escenarios.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548640" y="4443984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FF6FF"/>
          </a:solidFill>
          <a:ln/>
        </p:spPr>
      </p:sp>
      <p:pic>
        <p:nvPicPr>
          <p:cNvPr id="13" name="Image 3" descr="/tmp/deck/icon-invoice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4" y="4532498"/>
            <a:ext cx="225308" cy="2253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44165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Freemium: informe premium en PDF por USD 3,99 — el usuario que paga es el más comprometido.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48640" y="5577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producción hoy: magic-number.app · Español e inglés</a:t>
            </a:r>
            <a:endParaRPr lang="en-US" sz="1300" dirty="0"/>
          </a:p>
        </p:txBody>
      </p:sp>
      <p:pic>
        <p:nvPicPr>
          <p:cNvPr id="16" name="Image 4" descr="/tmp/og-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691640"/>
            <a:ext cx="4892040" cy="256946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720840" y="4526280"/>
            <a:ext cx="4892040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/>
        </p:spPr>
      </p:sp>
      <p:sp>
        <p:nvSpPr>
          <p:cNvPr id="18" name="Text 11"/>
          <p:cNvSpPr/>
          <p:nvPr/>
        </p:nvSpPr>
        <p:spPr>
          <a:xfrm>
            <a:off x="6720840" y="4645152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6775704" y="5102352"/>
            <a:ext cx="1520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carga a resultado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8351520" y="4645152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8406384" y="5102352"/>
            <a:ext cx="1520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de inversión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9982200" y="4645152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10037064" y="5102352"/>
            <a:ext cx="1520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requerido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llega a vos ya educado</a:t>
            </a:r>
            <a:endParaRPr lang="en-US" sz="3200" dirty="0"/>
          </a:p>
        </p:txBody>
      </p:sp>
      <p:pic>
        <p:nvPicPr>
          <p:cNvPr id="3" name="Image 0" descr="/tmp/hi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234440"/>
            <a:ext cx="3611880" cy="5111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00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informe premium (USD 3,99) incluye: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Number exacto y proyección al retiro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Trayectoria año a año: acumulación y consumo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ahorrar por mes según perfil de inversión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salud financiera, deudas, metas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completa y supuestos transparentes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6949440" cy="1325880"/>
          </a:xfrm>
          <a:prstGeom prst="roundRect">
            <a:avLst>
              <a:gd name="adj" fmla="val 8276"/>
            </a:avLst>
          </a:prstGeom>
          <a:solidFill>
            <a:srgbClr val="EFF6F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80060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esta persona pide un asesor, ya vio su número, su brecha y su score. </a:t>
            </a:r>
            <a:pPr indent="0" marL="0">
              <a:buNone/>
            </a:pPr>
            <a:r>
              <a:rPr lang="en-US" sz="14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que convencerla de que necesita planificar: ya lo sabe.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cálculo a tu bandeja de entrada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06040" cy="2651760"/>
          </a:xfrm>
          <a:prstGeom prst="roundRect">
            <a:avLst>
              <a:gd name="adj" fmla="val 4912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carga sus datos y ve su Magic Number.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99816" y="31546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47288" y="2103120"/>
            <a:ext cx="2606040" cy="2651760"/>
          </a:xfrm>
          <a:prstGeom prst="roundRect">
            <a:avLst>
              <a:gd name="adj" fmla="val 4912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75888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75888" y="3063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su brecha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75888" y="35204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Descubre cuánto le falta y cuánto le cuesta cada año de espera.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98464" y="31546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45936" y="2103120"/>
            <a:ext cx="2606040" cy="2651760"/>
          </a:xfrm>
          <a:prstGeom prst="roundRect">
            <a:avLst>
              <a:gd name="adj" fmla="val 4912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574536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57453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74536" y="3063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ayuda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74536" y="35204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"Consultar a un Asesor Financiero" en los momentos de mayor conciencia.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97112" y="31546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244584" y="2103120"/>
            <a:ext cx="2606040" cy="2651760"/>
          </a:xfrm>
          <a:prstGeom prst="roundRect">
            <a:avLst>
              <a:gd name="adj" fmla="val 4912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9473184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9473184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73184" y="3063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directo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473184" y="35204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 nombre, email y teléfono, con consentimiento explícito. Te llega al instante.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CTA de asesor aparece 5 veces en el recorrido — siempre después de mostrar la brecha, nunca antes.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lead que recibís — completo y en tiempo real</a:t>
            </a:r>
            <a:endParaRPr lang="en-US" sz="3200" dirty="0"/>
          </a:p>
        </p:txBody>
      </p:sp>
      <p:pic>
        <p:nvPicPr>
          <p:cNvPr id="3" name="Image 0" descr="/tmp/lead-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447288" cy="4800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17720" y="150876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5" name="Image 1" descr="/tmp/deck/icon-email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81" y="1605321"/>
            <a:ext cx="245791" cy="2457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57800" y="1463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inmediato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257800" y="181051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lead llega a tu casilla en el momento, con reply-to directo a la persona.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617720" y="26243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9" name="Image 2" descr="/tmp/deck/icon-usertie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281" y="2720889"/>
            <a:ext cx="245791" cy="2457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7800" y="25786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financiero completo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257800" y="29260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Edad, Magic Number, progreso, ingresos, gastos, ahorro, deudas, perfil inversor y score.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617720" y="3739896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13" name="Image 3" descr="/tmp/deck/icon-shield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281" y="3836457"/>
            <a:ext cx="245791" cy="2457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57800" y="36941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Consentimiento registrado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5257800" y="40416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aceptó compartir su perfil con un asesor verificado — con fecha y hora.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617720" y="4855464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17" name="Image 4" descr="/tmp/deck/icon-filter-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281" y="4952025"/>
            <a:ext cx="245791" cy="2457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57800" y="480974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Pre-calificado por diseño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5257800" y="515721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Llegó hasta acá después de ver su brecha: hay problema reconocido y disposición a actuar.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548640" y="6108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ejemplo — el diseño y los campos son los reales.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617720" y="5943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el asesor de destino toma una configuración — hoy puede ser tu casilla.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propuesta: comisión por cliente, como un referido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pic>
        <p:nvPicPr>
          <p:cNvPr id="5" name="Image 0" descr="/tmp/deck/icon-handshake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12232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costo fijo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comprás leads ni pagás abono. Solo reconocés una comisión cuando un referido se convierte en cliente tuyo — como una referencia personal.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56616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pic>
        <p:nvPicPr>
          <p:cNvPr id="10" name="Image 1" descr="/tmp/deck/icon-invoic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212232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a acordar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17720" y="3200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simple de referido: monto fijo o porcentaje por cliente convertido. Lo definimos juntos, sujeto a la normativa aplicable.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737360"/>
            <a:ext cx="356616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pic>
        <p:nvPicPr>
          <p:cNvPr id="15" name="Image 2" descr="/tmp/deck/icon-rocket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212232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Exclusividad de piloto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12480" y="3200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piloto, el 100% de los leads se dirige a vos. La inversión en pauta la financiamos nosotros.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FF6FF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5394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riesgo: cero. </a:t>
            </a:r>
            <a:pPr indent="0" marL="0">
              <a:buNone/>
            </a:pPr>
            <a:r>
              <a:rPr lang="en-US" sz="14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los leads no convierten, no pagás nada. Si convierten, ganamos los dos.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esperado — escenarios conservadores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Pauta mensual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Clics estimados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Cálculos completos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Leads para asesor / mes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 – 600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– 210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– 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 – 1.000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 – 350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– 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 1.000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 – 2.000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 – 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– 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5720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Supuestos: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USD 0,50–0,90 (Meta Ads, audiencias ES-LATAM, vertical finanzas) · 35% de los visitantes completa el cálculo (herramienta de 3 min sin registro) · 3–4% de quienes calculan pide un asesor. </a:t>
            </a:r>
            <a:pPr indent="0" marL="0">
              <a:buNone/>
            </a:pPr>
            <a:r>
              <a:rPr lang="en-US" sz="115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recién lanzado: son estimaciones de mercado a validar durante el piloto, no promesas.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Referencias: get-ryze.ai — Meta Ads Benchmarks 2026 · Fuelads — CPL LatAm Q2 2026 · wordstream.com — CPC por país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motor serio detrás — auditable y transparente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5" name="Image 0" descr="/tmp/deck/icon-flask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801" y="2016801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928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testeado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2258568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tests automáticos sobre la matemática financiera. Capitalización mensual consistente en todo el producto.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69164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92024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10" name="Image 1" descr="/tmp/deck/icon-check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081" y="2016801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928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pública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086600" y="2258568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"Cómo calculamos" abierta a cualquiera: fórmulas, supuestos y límites del modelo, sin letra chica.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1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93192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15" name="Image 2" descr="/tmp/deck/icon-chart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01" y="4028481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9044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honestos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417320" y="4270248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Retornos reales netos de inflación, en dólares constantes. Advertencias explícitas contra retornos irreales.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3703320"/>
            <a:ext cx="5440680" cy="1783080"/>
          </a:xfrm>
          <a:prstGeom prst="roundRect">
            <a:avLst>
              <a:gd name="adj" fmla="val 7179"/>
            </a:avLst>
          </a:prstGeom>
          <a:solidFill>
            <a:srgbClr val="F1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393192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20" name="Image 3" descr="/tmp/deck/icon-privacy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081" y="4028481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39044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y consentimiento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086600" y="4270248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PII en analytics. El perfil solo se comparte cuando la persona lo acepta, y queda registrado.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Infraestructura: Cloudflare Pages · Supabase · Stripe · Resend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Quiénes somos y hacia dónde va esto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/>
        </p:spPr>
      </p:sp>
      <p:pic>
        <p:nvPicPr>
          <p:cNvPr id="5" name="Image 0" descr="/tmp/deck/icon-usertie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1579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2020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Federico Amui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07008" y="23500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Creador de MaNu: la idea, la lógica del producto y el motor matemático-financiero. Construyó el primer MVP y lidera inversión y comercial.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/>
        </p:spPr>
      </p:sp>
      <p:pic>
        <p:nvPicPr>
          <p:cNvPr id="9" name="Image 1" descr="/tmp/deck/icon-userti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2095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3072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Boccacci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07008" y="34015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y tecnología: la versión actual en producción, el motor testeado y la infraestructura.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3891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</p:sp>
      <p:sp>
        <p:nvSpPr>
          <p:cNvPr id="13" name="Text 9"/>
          <p:cNvSpPr/>
          <p:nvPr/>
        </p:nvSpPr>
        <p:spPr>
          <a:xfrm>
            <a:off x="749808" y="4526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 con asesores: </a:t>
            </a:r>
            <a:pPr indent="0" marL="0">
              <a:buNone/>
            </a:pPr>
            <a:r>
              <a:rPr lang="en-US" sz="12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falta no son herramientas — son clientes calificados. Por eso MaNu genera leads, no dashboards.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0" y="2057400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0" y="20574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726680" y="206654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en producción, embudo completo funcionando.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0" y="3026664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0" y="30266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1–3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726680" y="30358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con Javier: pauta inicial, medición de calidad y conversión de leads.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0" y="3995928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0" y="39959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4–6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726680" y="400507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Escalamos la pauta sobre los ratios validados.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0" y="4965192"/>
            <a:ext cx="1143000" cy="384048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0" y="49651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726680" y="497433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volumen y cobertura regional — siempre respetando tu prioridad.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</a:t>
            </a:r>
            <a:endParaRPr lang="en-US" sz="1008" dirty="0"/>
          </a:p>
        </p:txBody>
      </p:sp>
      <p:sp>
        <p:nvSpPr>
          <p:cNvPr id="4" name="Text 2"/>
          <p:cNvSpPr/>
          <p:nvPr/>
        </p:nvSpPr>
        <p:spPr>
          <a:xfrm>
            <a:off x="1024128" y="4206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1214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feedback sobre el producto y la propuesta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7008" y="287121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Acordamos la comisión de referido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362102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Configuramos tu casilla como destino de leads — mismo día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07008" y="4370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 el piloto de 3 meses, con revisión mensual de calidad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0" y="1965960"/>
            <a:ext cx="2926080" cy="3429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</p:spPr>
      </p:sp>
      <p:pic>
        <p:nvPicPr>
          <p:cNvPr id="19" name="Image 0" descr="/tmp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240280"/>
            <a:ext cx="2286000" cy="2286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8680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magic-number.app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869680" y="4956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Escaneá y calculá tu propio Magic Number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Boccacci — mboccacci@gmail.com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 PRO · Propuesta confidencial · Julio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 PRO — Propuesta para Javier</dc:title>
  <dc:subject>PptxGenJS Presentation</dc:subject>
  <dc:creator>MaNu PRO</dc:creator>
  <cp:lastModifiedBy>MaNu PRO</cp:lastModifiedBy>
  <cp:revision>1</cp:revision>
  <dcterms:created xsi:type="dcterms:W3CDTF">2026-07-14T11:49:45Z</dcterms:created>
  <dcterms:modified xsi:type="dcterms:W3CDTF">2026-07-14T11:49:45Z</dcterms:modified>
</cp:coreProperties>
</file>