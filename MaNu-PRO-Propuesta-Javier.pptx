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5" d="100"/>
          <a:sy n="95" d="100"/>
        </p:scale>
        <p:origin x="17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848196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Abrir con la pregunta: ¿cuánto te cuesta hoy conseguir un cliente nuevo calificado? Presentar MaNu PRO como una fuente de clientes que llegan ya educados sobre su situación de retiro.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dolor del asesor: adquisición cara y de baja calidad. Anclar el benchmark: USD 20-40 el lead frío. Nuestro lead llega con contexto — eso viene en las próximas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 en vivo acá si hay tiempo: abrir magic-number.app y calcular un caso en 3 minutos. Alternativa: ?demo=1 muestra la experiencia completa desbloqueada.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el informe real (llevar impreso o en tablet). Punto clave: el contenido educa y crea urgencia — el usuario ya hizo el trabajo emocional antes de hablar con Javier.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embudo se auto-califica: quien llega al paso 4 vio su brecha y decidió pedir ayuda. Nadie lo interrumpió — la persona pidió que la contacten.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es LA slide. Mostrar el email real si Resend ya está activo (mandarse un lead de prueba en vivo desde el celular es un gran momento de la reunión).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Modelo elegido: comisión por cliente convertido (referido). No vendemos leads. El número exacto de la comisión queda abierto para acordar con Javier en la reunión.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Ser 100% honesto: hoy 0 usuarios, esto es matemática de embudo con benchmarks públicos. El piloto de 3 meses valida los ratios reales. La pauta la pagamos nosotros — para Javier el volumen es upside sin riesgo.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Javier va a escrutar la metodología — esa es exactamente la razón de la sección "Cómo calculamos". Invitarlo a revisarla y dar feedback del motor: su expertise mejora el producto.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Fede es el creador: idea, logica financiera y primer MVP — ademas de capitalizar la inversion. Martin llevo el producto a produccion. B2B validado: los asesores necesitan leads, no software. Roadmap conservador — primero validar calidad con Javier.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pedir el OK para el piloto. La configuración es inmediata — puede recibir su primer lead de prueba antes de que termine la reunión.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87452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548640" y="18745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680" dirty="0"/>
          </a:p>
        </p:txBody>
      </p:sp>
      <p:sp>
        <p:nvSpPr>
          <p:cNvPr id="4" name="Text 2"/>
          <p:cNvSpPr/>
          <p:nvPr/>
        </p:nvSpPr>
        <p:spPr>
          <a:xfrm>
            <a:off x="1325880" y="184708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27432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calificados de </a:t>
            </a:r>
            <a:r>
              <a:rPr lang="en-US" sz="44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planificación de retiro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41605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Propuesta de </a:t>
            </a:r>
            <a:r>
              <a:rPr lang="en-US" sz="2000" dirty="0" err="1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colaboración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48640" y="59893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Federico Amui · Martín Boccacci        magic-number.app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Conseguir clientes nuevos es caro — y llegan fríos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0020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4" name="Image 0" descr="/tmp/deck/icon-dollar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247" y="1704807"/>
            <a:ext cx="266273" cy="26627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234440" y="154533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Adquisición cara</a:t>
            </a:r>
            <a:endParaRPr lang="en-US" sz="1700" dirty="0"/>
          </a:p>
        </p:txBody>
      </p:sp>
      <p:sp>
        <p:nvSpPr>
          <p:cNvPr id="6" name="Text 3"/>
          <p:cNvSpPr/>
          <p:nvPr/>
        </p:nvSpPr>
        <p:spPr>
          <a:xfrm>
            <a:off x="1234440" y="189280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lead de finanzas en LATAM cuesta USD 20–40 en pauta digital, y el costo sube todos los años.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48640" y="292608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8" name="Image 1" descr="/tmp/deck/icon-snow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47" y="3030687"/>
            <a:ext cx="266273" cy="266273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234440" y="287121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Leads fríos</a:t>
            </a:r>
            <a:endParaRPr lang="en-US" sz="1700" dirty="0"/>
          </a:p>
        </p:txBody>
      </p:sp>
      <p:sp>
        <p:nvSpPr>
          <p:cNvPr id="10" name="Text 6"/>
          <p:cNvSpPr/>
          <p:nvPr/>
        </p:nvSpPr>
        <p:spPr>
          <a:xfrm>
            <a:off x="1234440" y="321868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bases compradas no tienen contexto ni urgencia: la persona no sabe por qué la llaman.</a:t>
            </a:r>
            <a:endParaRPr lang="en-US" sz="1350" dirty="0"/>
          </a:p>
        </p:txBody>
      </p:sp>
      <p:sp>
        <p:nvSpPr>
          <p:cNvPr id="11" name="Shape 7"/>
          <p:cNvSpPr/>
          <p:nvPr/>
        </p:nvSpPr>
        <p:spPr>
          <a:xfrm>
            <a:off x="548640" y="4251960"/>
            <a:ext cx="475488" cy="475488"/>
          </a:xfrm>
          <a:prstGeom prst="roundRect">
            <a:avLst>
              <a:gd name="adj" fmla="val 23077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2" name="Image 2" descr="/tmp/deck/icon-clock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247" y="4356567"/>
            <a:ext cx="266273" cy="266273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234440" y="4197096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Horas de calificación</a:t>
            </a:r>
            <a:endParaRPr lang="en-US" sz="1700" dirty="0"/>
          </a:p>
        </p:txBody>
      </p:sp>
      <p:sp>
        <p:nvSpPr>
          <p:cNvPr id="14" name="Text 9"/>
          <p:cNvSpPr/>
          <p:nvPr/>
        </p:nvSpPr>
        <p:spPr>
          <a:xfrm>
            <a:off x="1234440" y="45445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cada cliente real, el asesor invierte horas en llamadas que no van a ningún lado.</a:t>
            </a:r>
            <a:endParaRPr lang="en-US" sz="1350" dirty="0"/>
          </a:p>
        </p:txBody>
      </p:sp>
      <p:sp>
        <p:nvSpPr>
          <p:cNvPr id="15" name="Shape 10"/>
          <p:cNvSpPr/>
          <p:nvPr/>
        </p:nvSpPr>
        <p:spPr>
          <a:xfrm>
            <a:off x="7406640" y="1737360"/>
            <a:ext cx="4114800" cy="3291840"/>
          </a:xfrm>
          <a:prstGeom prst="roundRect">
            <a:avLst>
              <a:gd name="adj" fmla="val 388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1"/>
          <p:cNvSpPr/>
          <p:nvPr/>
        </p:nvSpPr>
        <p:spPr>
          <a:xfrm>
            <a:off x="7406640" y="2286000"/>
            <a:ext cx="4114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USD 20–40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7772400" y="32918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lead frío de finanzas en LATAM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7772400" y="39776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garantía de que conteste el teléfono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Benchmarks: Fuelads — CPL Meta Ads LatAm Q2 2026 · get-ryze.ai — Meta Ads 2026 (finanzas)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PRO: tu Magic Number en 3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4" name="Image 0" descr="/tmp/deck/icon-chec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154" y="1734434"/>
            <a:ext cx="225308" cy="22530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43000" y="1618488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Calculadora de retiro gratis, sin registro y sin tarjeta — cero fricción de entrada.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548640" y="2578608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7" name="Image 1" descr="/tmp/deck/icon-bullsey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154" y="2667122"/>
            <a:ext cx="225308" cy="225308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43000" y="2551176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 el Magic Number: el capital exacto para retirarse, en dólares constantes.</a:t>
            </a:r>
            <a:endParaRPr lang="en-US" sz="1350" dirty="0"/>
          </a:p>
        </p:txBody>
      </p:sp>
      <p:sp>
        <p:nvSpPr>
          <p:cNvPr id="9" name="Shape 5"/>
          <p:cNvSpPr/>
          <p:nvPr/>
        </p:nvSpPr>
        <p:spPr>
          <a:xfrm>
            <a:off x="548640" y="3511296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0" name="Image 2" descr="/tmp/deck/icon-char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7154" y="3599810"/>
            <a:ext cx="225308" cy="22530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143000" y="3483864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Muestra la brecha, el costo de esperar y un simulador interactivo de escenarios.</a:t>
            </a:r>
            <a:endParaRPr lang="en-US" sz="1350" dirty="0"/>
          </a:p>
        </p:txBody>
      </p:sp>
      <p:sp>
        <p:nvSpPr>
          <p:cNvPr id="12" name="Shape 7"/>
          <p:cNvSpPr/>
          <p:nvPr/>
        </p:nvSpPr>
        <p:spPr>
          <a:xfrm>
            <a:off x="548640" y="4443984"/>
            <a:ext cx="402336" cy="402336"/>
          </a:xfrm>
          <a:prstGeom prst="roundRect">
            <a:avLst>
              <a:gd name="adj" fmla="val 27273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3" name="Image 3" descr="/tmp/deck/icon-invoice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154" y="4532498"/>
            <a:ext cx="225308" cy="225308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143000" y="4416552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Freemium: informe premium en PDF por USD 3,99 — el usuario que paga es el más comprometido.</a:t>
            </a:r>
            <a:endParaRPr lang="en-US" sz="1350" dirty="0"/>
          </a:p>
        </p:txBody>
      </p:sp>
      <p:sp>
        <p:nvSpPr>
          <p:cNvPr id="15" name="Text 9"/>
          <p:cNvSpPr/>
          <p:nvPr/>
        </p:nvSpPr>
        <p:spPr>
          <a:xfrm>
            <a:off x="548640" y="5577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producción hoy: magic-number.app · Español e inglés</a:t>
            </a:r>
            <a:endParaRPr lang="en-US" sz="1300" dirty="0"/>
          </a:p>
        </p:txBody>
      </p:sp>
      <p:pic>
        <p:nvPicPr>
          <p:cNvPr id="16" name="Image 4" descr="/tmp/og-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1691640"/>
            <a:ext cx="4892040" cy="2569464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720840" y="4526280"/>
            <a:ext cx="4892040" cy="1051560"/>
          </a:xfrm>
          <a:prstGeom prst="roundRect">
            <a:avLst>
              <a:gd name="adj" fmla="val 10435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1"/>
          <p:cNvSpPr/>
          <p:nvPr/>
        </p:nvSpPr>
        <p:spPr>
          <a:xfrm>
            <a:off x="6720840" y="4645152"/>
            <a:ext cx="163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min</a:t>
            </a:r>
            <a:endParaRPr lang="en-US" sz="2200" dirty="0"/>
          </a:p>
        </p:txBody>
      </p:sp>
      <p:sp>
        <p:nvSpPr>
          <p:cNvPr id="19" name="Text 12"/>
          <p:cNvSpPr/>
          <p:nvPr/>
        </p:nvSpPr>
        <p:spPr>
          <a:xfrm>
            <a:off x="6775704" y="5102352"/>
            <a:ext cx="1520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carga a resultado</a:t>
            </a:r>
            <a:endParaRPr lang="en-US" sz="1050" dirty="0"/>
          </a:p>
        </p:txBody>
      </p:sp>
      <p:sp>
        <p:nvSpPr>
          <p:cNvPr id="20" name="Text 13"/>
          <p:cNvSpPr/>
          <p:nvPr/>
        </p:nvSpPr>
        <p:spPr>
          <a:xfrm>
            <a:off x="8351520" y="4645152"/>
            <a:ext cx="163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21" name="Text 14"/>
          <p:cNvSpPr/>
          <p:nvPr/>
        </p:nvSpPr>
        <p:spPr>
          <a:xfrm>
            <a:off x="8406384" y="5102352"/>
            <a:ext cx="1520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perfiles de inversión</a:t>
            </a:r>
            <a:endParaRPr lang="en-US" sz="1050" dirty="0"/>
          </a:p>
        </p:txBody>
      </p:sp>
      <p:sp>
        <p:nvSpPr>
          <p:cNvPr id="22" name="Text 15"/>
          <p:cNvSpPr/>
          <p:nvPr/>
        </p:nvSpPr>
        <p:spPr>
          <a:xfrm>
            <a:off x="9982200" y="4645152"/>
            <a:ext cx="1630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ext 16"/>
          <p:cNvSpPr/>
          <p:nvPr/>
        </p:nvSpPr>
        <p:spPr>
          <a:xfrm>
            <a:off x="10037064" y="5102352"/>
            <a:ext cx="15209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requerido</a:t>
            </a:r>
            <a:endParaRPr lang="en-US" sz="1050" dirty="0"/>
          </a:p>
        </p:txBody>
      </p:sp>
      <p:sp>
        <p:nvSpPr>
          <p:cNvPr id="24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usuario llega a vos ya educado</a:t>
            </a:r>
            <a:endParaRPr lang="en-US" sz="3200" dirty="0"/>
          </a:p>
        </p:txBody>
      </p:sp>
      <p:pic>
        <p:nvPicPr>
          <p:cNvPr id="3" name="Image 0" descr="/tmp/hi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234440"/>
            <a:ext cx="3611880" cy="511149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48640" y="16002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informe premium (USD 3,99) incluye: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548640" y="2103120"/>
            <a:ext cx="67665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 Number exacto y proyección al retiro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Trayectoria año a año: acumulación y consumo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Cuánto ahorrar por mes según perfil de inversión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de salud financiera, deudas, metas</a:t>
            </a:r>
            <a:endParaRPr lang="en-US" sz="14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completa y supuestos transparentes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4617720"/>
            <a:ext cx="6949440" cy="1325880"/>
          </a:xfrm>
          <a:prstGeom prst="roundRect">
            <a:avLst>
              <a:gd name="adj" fmla="val 8276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4"/>
          <p:cNvSpPr/>
          <p:nvPr/>
        </p:nvSpPr>
        <p:spPr>
          <a:xfrm>
            <a:off x="777240" y="4800600"/>
            <a:ext cx="6492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Cuando esta persona pide un asesor, ya vio su número, su brecha y su score. </a:t>
            </a:r>
            <a:r>
              <a:rPr lang="en-US" sz="145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hay que convencerla de que necesita planificar: ya lo sabe.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 cálculo a tu bandeja de entrada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2103120"/>
            <a:ext cx="2606040" cy="2651760"/>
          </a:xfrm>
          <a:prstGeom prst="roundRect">
            <a:avLst>
              <a:gd name="adj" fmla="val 4912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777240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77240" y="30632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Calcula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777240" y="35204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carga sus datos y ve su Magic Number.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099816" y="31546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447288" y="2103120"/>
            <a:ext cx="2606040" cy="2651760"/>
          </a:xfrm>
          <a:prstGeom prst="roundRect">
            <a:avLst>
              <a:gd name="adj" fmla="val 4912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Shape 8"/>
          <p:cNvSpPr/>
          <p:nvPr/>
        </p:nvSpPr>
        <p:spPr>
          <a:xfrm>
            <a:off x="3675888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3675888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75888" y="30632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su brecha</a:t>
            </a:r>
            <a:endParaRPr lang="en-US" sz="1650" dirty="0"/>
          </a:p>
        </p:txBody>
      </p:sp>
      <p:sp>
        <p:nvSpPr>
          <p:cNvPr id="13" name="Text 11"/>
          <p:cNvSpPr/>
          <p:nvPr/>
        </p:nvSpPr>
        <p:spPr>
          <a:xfrm>
            <a:off x="3675888" y="35204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Descubre cuánto le falta y cuánto le cuesta cada año de espera.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998464" y="31546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6345936" y="2103120"/>
            <a:ext cx="2606040" cy="2651760"/>
          </a:xfrm>
          <a:prstGeom prst="roundRect">
            <a:avLst>
              <a:gd name="adj" fmla="val 4912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Shape 14"/>
          <p:cNvSpPr/>
          <p:nvPr/>
        </p:nvSpPr>
        <p:spPr>
          <a:xfrm>
            <a:off x="6574536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6574536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574536" y="30632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Pide ayuda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574536" y="35204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CTA "Consultar a un Asesor Financiero" en los momentos de mayor conciencia.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897112" y="3154680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60A5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9244584" y="2103120"/>
            <a:ext cx="2606040" cy="2651760"/>
          </a:xfrm>
          <a:prstGeom prst="roundRect">
            <a:avLst>
              <a:gd name="adj" fmla="val 4912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2" name="Shape 20"/>
          <p:cNvSpPr/>
          <p:nvPr/>
        </p:nvSpPr>
        <p:spPr>
          <a:xfrm>
            <a:off x="9473184" y="237744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9473184" y="23774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9473184" y="30632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directo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9473184" y="3520440"/>
            <a:ext cx="2148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Deja nombre, email y teléfono, con consentimiento explícito. Te llega al instante.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48640" y="52578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CTA de asesor aparece 5 veces en el recorrido — siempre después de mostrar la brecha, nunca antes.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lead que recibís — completo y en tiempo real</a:t>
            </a:r>
            <a:endParaRPr lang="en-US" sz="3200" dirty="0"/>
          </a:p>
        </p:txBody>
      </p:sp>
      <p:pic>
        <p:nvPicPr>
          <p:cNvPr id="3" name="Image 0" descr="/tmp/lead-em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34440"/>
            <a:ext cx="3447288" cy="48006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617720" y="150876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1" descr="/tmp/deck/icon-email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14281" y="1605321"/>
            <a:ext cx="245791" cy="245791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257800" y="1463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inmediato</a:t>
            </a:r>
            <a:endParaRPr lang="en-US" sz="1550" dirty="0"/>
          </a:p>
        </p:txBody>
      </p:sp>
      <p:sp>
        <p:nvSpPr>
          <p:cNvPr id="7" name="Text 3"/>
          <p:cNvSpPr/>
          <p:nvPr/>
        </p:nvSpPr>
        <p:spPr>
          <a:xfrm>
            <a:off x="5257800" y="1810512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lead llega a tu casilla en el momento, con reply-to directo a la persona.</a:t>
            </a:r>
            <a:endParaRPr lang="en-US" sz="1250" dirty="0"/>
          </a:p>
        </p:txBody>
      </p:sp>
      <p:sp>
        <p:nvSpPr>
          <p:cNvPr id="8" name="Shape 4"/>
          <p:cNvSpPr/>
          <p:nvPr/>
        </p:nvSpPr>
        <p:spPr>
          <a:xfrm>
            <a:off x="4617720" y="2624328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9" name="Image 2" descr="/tmp/deck/icon-usertie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14281" y="2720889"/>
            <a:ext cx="245791" cy="245791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257800" y="2578608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Perfil financiero completo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5257800" y="2926080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Edad, Magic Number, progreso, ingresos, gastos, ahorro, deudas, perfil inversor y score.</a:t>
            </a:r>
            <a:endParaRPr lang="en-US" sz="1250" dirty="0"/>
          </a:p>
        </p:txBody>
      </p:sp>
      <p:sp>
        <p:nvSpPr>
          <p:cNvPr id="12" name="Shape 7"/>
          <p:cNvSpPr/>
          <p:nvPr/>
        </p:nvSpPr>
        <p:spPr>
          <a:xfrm>
            <a:off x="4617720" y="3739896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3" name="Image 3" descr="/tmp/deck/icon-shield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4281" y="3836457"/>
            <a:ext cx="245791" cy="24579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5257800" y="3694176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Consentimiento registrado</a:t>
            </a:r>
            <a:endParaRPr lang="en-US" sz="1550" dirty="0"/>
          </a:p>
        </p:txBody>
      </p:sp>
      <p:sp>
        <p:nvSpPr>
          <p:cNvPr id="15" name="Text 9"/>
          <p:cNvSpPr/>
          <p:nvPr/>
        </p:nvSpPr>
        <p:spPr>
          <a:xfrm>
            <a:off x="5257800" y="4041648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persona aceptó compartir su perfil con un asesor verificado — con fecha y hora.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4617720" y="4855464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7" name="Image 4" descr="/tmp/deck/icon-filter-blu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4281" y="4952025"/>
            <a:ext cx="245791" cy="245791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257800" y="4809744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Pre-calificado por diseño</a:t>
            </a:r>
            <a:endParaRPr lang="en-US" sz="1550" dirty="0"/>
          </a:p>
        </p:txBody>
      </p:sp>
      <p:sp>
        <p:nvSpPr>
          <p:cNvPr id="19" name="Text 12"/>
          <p:cNvSpPr/>
          <p:nvPr/>
        </p:nvSpPr>
        <p:spPr>
          <a:xfrm>
            <a:off x="5257800" y="5157216"/>
            <a:ext cx="6309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Llegó hasta acá después de ver su brecha: hay problema reconocido y disposición a actuar.</a:t>
            </a:r>
            <a:endParaRPr lang="en-US" sz="1250" dirty="0"/>
          </a:p>
        </p:txBody>
      </p:sp>
      <p:sp>
        <p:nvSpPr>
          <p:cNvPr id="20" name="Text 13"/>
          <p:cNvSpPr/>
          <p:nvPr/>
        </p:nvSpPr>
        <p:spPr>
          <a:xfrm>
            <a:off x="548640" y="6108192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de ejemplo — el diseño y los campos son los reales.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4617720" y="5943600"/>
            <a:ext cx="676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B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el asesor de destino toma una configuración — hoy puede ser tu casilla.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3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propuesta: comisión por cliente, como un referido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56616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822960" y="20116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/tmp/deck/icon-handshak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3602" y="2122322"/>
            <a:ext cx="281635" cy="28163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costo fijo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82296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comprás leads ni pagás abono. Solo reconocés una comisión cuando un referido se convierte en cliente tuyo — como una referencia personal.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343400" y="1737360"/>
            <a:ext cx="356616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Shape 6"/>
          <p:cNvSpPr/>
          <p:nvPr/>
        </p:nvSpPr>
        <p:spPr>
          <a:xfrm>
            <a:off x="4617720" y="20116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0" name="Image 1" descr="/tmp/deck/icon-invoice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28362" y="2122322"/>
            <a:ext cx="281635" cy="28163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61772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Comisión a acordar</a:t>
            </a:r>
            <a:endParaRPr lang="en-US" sz="1700" dirty="0"/>
          </a:p>
        </p:txBody>
      </p:sp>
      <p:sp>
        <p:nvSpPr>
          <p:cNvPr id="12" name="Text 8"/>
          <p:cNvSpPr/>
          <p:nvPr/>
        </p:nvSpPr>
        <p:spPr>
          <a:xfrm>
            <a:off x="461772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Estructura simple de referido: monto fijo o porcentaje por cliente convertido. Lo definimos juntos, sujeto a la normativa aplicable.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8138160" y="1737360"/>
            <a:ext cx="3566160" cy="3200400"/>
          </a:xfrm>
          <a:prstGeom prst="roundRect">
            <a:avLst>
              <a:gd name="adj" fmla="val 4000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Shape 10"/>
          <p:cNvSpPr/>
          <p:nvPr/>
        </p:nvSpPr>
        <p:spPr>
          <a:xfrm>
            <a:off x="8412480" y="2011680"/>
            <a:ext cx="502920" cy="502920"/>
          </a:xfrm>
          <a:prstGeom prst="roundRect">
            <a:avLst>
              <a:gd name="adj" fmla="val 21818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5" name="Image 2" descr="/tmp/deck/icon-rocke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3122" y="2122322"/>
            <a:ext cx="281635" cy="28163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412480" y="2743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Exclusividad de piloto</a:t>
            </a:r>
            <a:endParaRPr lang="en-US" sz="1700" dirty="0"/>
          </a:p>
        </p:txBody>
      </p:sp>
      <p:sp>
        <p:nvSpPr>
          <p:cNvPr id="17" name="Text 12"/>
          <p:cNvSpPr/>
          <p:nvPr/>
        </p:nvSpPr>
        <p:spPr>
          <a:xfrm>
            <a:off x="8412480" y="320040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el piloto, el 100% de los leads se dirige a vos. La inversión en pauta la financiamos nosotros.</a:t>
            </a:r>
            <a:endParaRPr lang="en-US" sz="1250" dirty="0"/>
          </a:p>
        </p:txBody>
      </p:sp>
      <p:sp>
        <p:nvSpPr>
          <p:cNvPr id="18" name="Shape 13"/>
          <p:cNvSpPr/>
          <p:nvPr/>
        </p:nvSpPr>
        <p:spPr>
          <a:xfrm>
            <a:off x="548640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9" name="Text 14"/>
          <p:cNvSpPr/>
          <p:nvPr/>
        </p:nvSpPr>
        <p:spPr>
          <a:xfrm>
            <a:off x="777240" y="539496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riesgo: cero. </a:t>
            </a:r>
            <a:r>
              <a:rPr lang="en-US" sz="145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los leads no convierten, no pagás nada. Si convierten, ganamos los dos.</a:t>
            </a:r>
            <a:endParaRPr lang="en-US" sz="1450" dirty="0"/>
          </a:p>
        </p:txBody>
      </p:sp>
      <p:sp>
        <p:nvSpPr>
          <p:cNvPr id="20" name="Text 15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Volumen esperado — escenarios conservadores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737360"/>
          <a:ext cx="11064240" cy="2267712"/>
        </p:xfrm>
        <a:graphic>
          <a:graphicData uri="http://schemas.openxmlformats.org/drawingml/2006/table">
            <a:tbl>
              <a:tblPr/>
              <a:tblGrid>
                <a:gridCol w="27660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660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Pauta mensual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Clics estimados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Cálculos completos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 para asesor / mes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300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 – 600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 – 210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– 7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500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550 – 1.000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190 – 350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– 12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USD 1.000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1.100 – 2.000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385 – 700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3B82F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 – 24</a:t>
                      </a:r>
                      <a:endParaRPr lang="en-US" sz="14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2"/>
          <p:cNvSpPr/>
          <p:nvPr/>
        </p:nvSpPr>
        <p:spPr>
          <a:xfrm>
            <a:off x="777240" y="4572000"/>
            <a:ext cx="10607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Supuestos: </a:t>
            </a: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CPC USD 0,50–0,90 (Meta Ads, audiencias ES-LATAM, vertical finanzas) · 35% de los visitantes completa el cálculo (herramienta de 3 min sin registro) · 3–4% de quienes calculan pide un asesor. </a:t>
            </a:r>
            <a:r>
              <a:rPr lang="en-US" sz="1150" b="1" i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recién lanzado: son estimaciones de mercado a validar durante el piloto, no promesas.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548640" y="58978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Referencias: get-ryze.ai — Meta Ads Benchmarks 2026 · Fuelads — CPL LatAm Q2 2026 · wordstream.com — CPC por país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motor serio detrás — auditable y transparente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69164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/tmp/deck/icon-flask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801" y="2016801"/>
            <a:ext cx="245791" cy="24579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417320" y="18928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Motor testeado</a:t>
            </a:r>
            <a:endParaRPr lang="en-US" sz="1550" dirty="0"/>
          </a:p>
        </p:txBody>
      </p:sp>
      <p:sp>
        <p:nvSpPr>
          <p:cNvPr id="7" name="Text 4"/>
          <p:cNvSpPr/>
          <p:nvPr/>
        </p:nvSpPr>
        <p:spPr>
          <a:xfrm>
            <a:off x="1417320" y="225856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 tests automáticos sobre la matemática financiera. Capitalización mensual consistente en todo el producto.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6217920" y="169164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Shape 6"/>
          <p:cNvSpPr/>
          <p:nvPr/>
        </p:nvSpPr>
        <p:spPr>
          <a:xfrm>
            <a:off x="6446520" y="192024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0" name="Image 1" descr="/tmp/deck/icon-check-blu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3081" y="2016801"/>
            <a:ext cx="245791" cy="245791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086600" y="189280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 pública</a:t>
            </a:r>
            <a:endParaRPr lang="en-US" sz="1550" dirty="0"/>
          </a:p>
        </p:txBody>
      </p:sp>
      <p:sp>
        <p:nvSpPr>
          <p:cNvPr id="12" name="Text 8"/>
          <p:cNvSpPr/>
          <p:nvPr/>
        </p:nvSpPr>
        <p:spPr>
          <a:xfrm>
            <a:off x="7086600" y="225856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Sección "Cómo calculamos" abierta a cualquiera: fórmulas, supuestos y límites del modelo, sin letra chica.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548640" y="37033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Shape 10"/>
          <p:cNvSpPr/>
          <p:nvPr/>
        </p:nvSpPr>
        <p:spPr>
          <a:xfrm>
            <a:off x="777240" y="39319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5" name="Image 2" descr="/tmp/deck/icon-chart-blu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801" y="4028481"/>
            <a:ext cx="245791" cy="245791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1417320" y="39044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Números honestos</a:t>
            </a:r>
            <a:endParaRPr lang="en-US" sz="1550" dirty="0"/>
          </a:p>
        </p:txBody>
      </p:sp>
      <p:sp>
        <p:nvSpPr>
          <p:cNvPr id="17" name="Text 12"/>
          <p:cNvSpPr/>
          <p:nvPr/>
        </p:nvSpPr>
        <p:spPr>
          <a:xfrm>
            <a:off x="1417320" y="427024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Retornos reales netos de inflación, en dólares constantes. Advertencias explícitas contra retornos irreales.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217920" y="3703320"/>
            <a:ext cx="5440680" cy="1783080"/>
          </a:xfrm>
          <a:prstGeom prst="roundRect">
            <a:avLst>
              <a:gd name="adj" fmla="val 7179"/>
            </a:avLst>
          </a:prstGeom>
          <a:solidFill>
            <a:srgbClr val="F1F5F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9" name="Shape 14"/>
          <p:cNvSpPr/>
          <p:nvPr/>
        </p:nvSpPr>
        <p:spPr>
          <a:xfrm>
            <a:off x="6446520" y="3931920"/>
            <a:ext cx="438912" cy="438912"/>
          </a:xfrm>
          <a:prstGeom prst="roundRect">
            <a:avLst>
              <a:gd name="adj" fmla="val 25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20" name="Image 3" descr="/tmp/deck/icon-privacy-blu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43081" y="4028481"/>
            <a:ext cx="245791" cy="245791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7086600" y="3904488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Privacidad y consentimiento</a:t>
            </a:r>
            <a:endParaRPr lang="en-US" sz="1550" dirty="0"/>
          </a:p>
        </p:txBody>
      </p:sp>
      <p:sp>
        <p:nvSpPr>
          <p:cNvPr id="22" name="Text 16"/>
          <p:cNvSpPr/>
          <p:nvPr/>
        </p:nvSpPr>
        <p:spPr>
          <a:xfrm>
            <a:off x="7086600" y="4270248"/>
            <a:ext cx="4343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PII en analytics. El perfil solo se comparte cuando la persona lo acepta, y queda registrado.</a:t>
            </a:r>
            <a:endParaRPr lang="en-US" sz="1150" dirty="0"/>
          </a:p>
        </p:txBody>
      </p:sp>
      <p:sp>
        <p:nvSpPr>
          <p:cNvPr id="23" name="Text 17"/>
          <p:cNvSpPr/>
          <p:nvPr/>
        </p:nvSpPr>
        <p:spPr>
          <a:xfrm>
            <a:off x="548640" y="58064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Infraestructura: Cloudflare Pages · Supabase · Stripe · Resend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Quiénes somos y hacia dónde va esto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5486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205740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5" name="Image 0" descr="/tmp/deck/icon-userti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215798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07008" y="202082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Federico Amui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07008" y="235000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Creador de MaNu: la idea, la lógica del producto y el motor matemático-financiero. Construyó el primer MVP y lidera inversión y comercial.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548640" y="310896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9" name="Image 1" descr="/tmp/deck/icon-usertie-blu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" y="320954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07008" y="30723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Boccacci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07008" y="3401568"/>
            <a:ext cx="4480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y tecnología: la versión actual en producción, el motor testeado y la infraestructura.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48640" y="4389120"/>
            <a:ext cx="5120640" cy="1371600"/>
          </a:xfrm>
          <a:prstGeom prst="roundRect">
            <a:avLst>
              <a:gd name="adj" fmla="val 8000"/>
            </a:avLst>
          </a:prstGeom>
          <a:solidFill>
            <a:srgbClr val="EFF6FF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9"/>
          <p:cNvSpPr/>
          <p:nvPr/>
        </p:nvSpPr>
        <p:spPr>
          <a:xfrm>
            <a:off x="749808" y="452628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Validado con asesores: </a:t>
            </a:r>
            <a:r>
              <a:rPr lang="en-US" sz="1250" dirty="0">
                <a:solidFill>
                  <a:srgbClr val="1E3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falta no son herramientas — son clientes calificados. Por eso MaNu genera leads, no dashboards.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640080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plan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6400800" y="2057400"/>
            <a:ext cx="1143000" cy="384048"/>
          </a:xfrm>
          <a:prstGeom prst="roundRect">
            <a:avLst>
              <a:gd name="adj" fmla="val 2381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2"/>
          <p:cNvSpPr/>
          <p:nvPr/>
        </p:nvSpPr>
        <p:spPr>
          <a:xfrm>
            <a:off x="6400800" y="20574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</a:t>
            </a:r>
            <a:endParaRPr lang="en-US" sz="1150" dirty="0"/>
          </a:p>
        </p:txBody>
      </p:sp>
      <p:sp>
        <p:nvSpPr>
          <p:cNvPr id="17" name="Text 13"/>
          <p:cNvSpPr/>
          <p:nvPr/>
        </p:nvSpPr>
        <p:spPr>
          <a:xfrm>
            <a:off x="7726680" y="2066544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Producto en producción, embudo completo funcionando.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00800" y="3026664"/>
            <a:ext cx="1143000" cy="384048"/>
          </a:xfrm>
          <a:prstGeom prst="roundRect">
            <a:avLst>
              <a:gd name="adj" fmla="val 2381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9" name="Text 15"/>
          <p:cNvSpPr/>
          <p:nvPr/>
        </p:nvSpPr>
        <p:spPr>
          <a:xfrm>
            <a:off x="6400800" y="3026664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 1–3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7726680" y="303580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Piloto: pauta inicial, medición de calidad y conversión de leads.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0" y="3995928"/>
            <a:ext cx="1143000" cy="384048"/>
          </a:xfrm>
          <a:prstGeom prst="roundRect">
            <a:avLst>
              <a:gd name="adj" fmla="val 2381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2" name="Text 18"/>
          <p:cNvSpPr/>
          <p:nvPr/>
        </p:nvSpPr>
        <p:spPr>
          <a:xfrm>
            <a:off x="6400800" y="3995928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Mes 4–6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7726680" y="4005072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Escalamos la pauta sobre los ratios validados.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0" y="4965192"/>
            <a:ext cx="1143000" cy="384048"/>
          </a:xfrm>
          <a:prstGeom prst="roundRect">
            <a:avLst>
              <a:gd name="adj" fmla="val 2381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1"/>
          <p:cNvSpPr/>
          <p:nvPr/>
        </p:nvSpPr>
        <p:spPr>
          <a:xfrm>
            <a:off x="6400800" y="4965192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Después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7726680" y="4974336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Más volumen y cobertura regional — siempre respetando tu prioridad.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57200"/>
            <a:ext cx="384048" cy="384048"/>
          </a:xfrm>
          <a:prstGeom prst="roundRect">
            <a:avLst>
              <a:gd name="adj" fmla="val 21429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8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MN</a:t>
            </a:r>
            <a:endParaRPr lang="en-US" sz="1008" dirty="0"/>
          </a:p>
        </p:txBody>
      </p:sp>
      <p:sp>
        <p:nvSpPr>
          <p:cNvPr id="4" name="Text 2"/>
          <p:cNvSpPr/>
          <p:nvPr/>
        </p:nvSpPr>
        <p:spPr>
          <a:xfrm>
            <a:off x="1024128" y="4206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pasos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54864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207008" y="2121408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feedback sobre el producto y la propuesta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52928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207008" y="2871216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Acordamos la comisión de referido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48640" y="3602736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548640" y="36027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207008" y="3621024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Configuramos tu casilla como destino de leads — mismo día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548640" y="4352544"/>
            <a:ext cx="457200" cy="457200"/>
          </a:xfrm>
          <a:prstGeom prst="roundRect">
            <a:avLst>
              <a:gd name="adj" fmla="val 22000"/>
            </a:avLst>
          </a:prstGeom>
          <a:solidFill>
            <a:srgbClr val="3B82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548640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207008" y="4370832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Arranca el piloto de 3 meses, con revisión mensual de calidad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686800" y="1965960"/>
            <a:ext cx="2926080" cy="342900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s-AR"/>
          </a:p>
        </p:txBody>
      </p:sp>
      <p:pic>
        <p:nvPicPr>
          <p:cNvPr id="19" name="Image 0" descr="/tmp/q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06840" y="2240280"/>
            <a:ext cx="2286000" cy="22860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8686800" y="46177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magic-number.app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8869680" y="4956048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Escaneá y calculá tu propio Magic Number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548640" y="60350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Martín Boccacci — mboccacci@gmail.com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 PRO · Propuesta confidencial · Julio 2026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15568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1541</Words>
  <Application>Microsoft Office PowerPoint</Application>
  <PresentationFormat>Panorámica</PresentationFormat>
  <Paragraphs>173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1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3" baseType="lpstr"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MaNu PRO — Propuesta para Javier</dc:title>
  <dc:subject>PptxGenJS Presentation</dc:subject>
  <dc:creator>MaNu PRO</dc:creator>
  <cp:lastModifiedBy>Martín Boccacci</cp:lastModifiedBy>
  <cp:revision>2</cp:revision>
  <dcterms:created xsi:type="dcterms:W3CDTF">2026-07-14T11:49:45Z</dcterms:created>
  <dcterms:modified xsi:type="dcterms:W3CDTF">2026-07-16T18:46:15Z</dcterms:modified>
</cp:coreProperties>
</file>